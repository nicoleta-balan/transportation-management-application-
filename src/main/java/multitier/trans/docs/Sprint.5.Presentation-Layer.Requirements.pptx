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2" Type="http://schemas.openxmlformats.org/officeDocument/2006/relationships/custom-properties" Target="docProps/custom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Raleway"/>
      <p:regular r:id="rId10"/>
      <p:bold r:id="rId11"/>
      <p:italic r:id="rId12"/>
      <p:boldItalic r:id="rId13"/>
    </p:embeddedFont>
    <p:embeddedFont>
      <p:font typeface="Lat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Raleway-boldItalic.fntdata"/><Relationship Id="rId8" Type="http://schemas.openxmlformats.org/officeDocument/2006/relationships/slide" Target="slides/slide3.xml"/><Relationship Id="rId18" Type="http://schemas.openxmlformats.org/officeDocument/2006/relationships/customXml" Target="../customXml/item1.xml"/><Relationship Id="rId3" Type="http://schemas.openxmlformats.org/officeDocument/2006/relationships/presProps" Target="presProps.xml"/><Relationship Id="rId12" Type="http://schemas.openxmlformats.org/officeDocument/2006/relationships/font" Target="fonts/Raleway-italic.fntdata"/><Relationship Id="rId17" Type="http://schemas.openxmlformats.org/officeDocument/2006/relationships/font" Target="fonts/Lato-boldItalic.fntdata"/><Relationship Id="rId7" Type="http://schemas.openxmlformats.org/officeDocument/2006/relationships/slide" Target="slides/slide2.xml"/><Relationship Id="rId2" Type="http://schemas.openxmlformats.org/officeDocument/2006/relationships/viewProps" Target="viewProps.xml"/><Relationship Id="rId16" Type="http://schemas.openxmlformats.org/officeDocument/2006/relationships/font" Target="fonts/Lato-italic.fntdata"/><Relationship Id="rId20" Type="http://schemas.openxmlformats.org/officeDocument/2006/relationships/customXml" Target="../customXml/item3.xml"/><Relationship Id="rId11" Type="http://schemas.openxmlformats.org/officeDocument/2006/relationships/font" Target="fonts/Raleway-bold.fntdata"/><Relationship Id="rId1" Type="http://schemas.openxmlformats.org/officeDocument/2006/relationships/theme" Target="theme/theme1.xml"/><Relationship Id="rId6" Type="http://schemas.openxmlformats.org/officeDocument/2006/relationships/slide" Target="slides/slide1.xml"/><Relationship Id="rId15" Type="http://schemas.openxmlformats.org/officeDocument/2006/relationships/font" Target="fonts/Lato-bold.fntdata"/><Relationship Id="rId5" Type="http://schemas.openxmlformats.org/officeDocument/2006/relationships/notesMaster" Target="notesMasters/notesMaster1.xml"/><Relationship Id="rId10" Type="http://schemas.openxmlformats.org/officeDocument/2006/relationships/font" Target="fonts/Raleway-regular.fntdata"/><Relationship Id="rId19" Type="http://schemas.openxmlformats.org/officeDocument/2006/relationships/customXml" Target="../customXml/item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La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6fa3c898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6fa3c89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c6fa3c898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c6fa3c89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c6fa3c898_0_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c6fa3c89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641d287da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641d287da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selenium.dev/documentation/test_practices/testing_type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ctrTitle"/>
          </p:nvPr>
        </p:nvSpPr>
        <p:spPr>
          <a:xfrm>
            <a:off x="1178500" y="709100"/>
            <a:ext cx="7740300" cy="315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FFFF"/>
                </a:solidFill>
              </a:rPr>
              <a:t>Sprint 5.MSD:</a:t>
            </a:r>
            <a:br>
              <a:rPr lang="en"/>
            </a:br>
            <a:r>
              <a:rPr lang="en"/>
              <a:t>Presentation Layer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C4587"/>
                </a:solidFill>
              </a:rPr>
              <a:t>Frontend Client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73" name="Google Shape;73;p13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Sprint_5 •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/>
          <p:nvPr>
            <p:ph type="title"/>
          </p:nvPr>
        </p:nvSpPr>
        <p:spPr>
          <a:xfrm>
            <a:off x="265500" y="1912650"/>
            <a:ext cx="4045200" cy="131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79" name="Google Shape;79;p14"/>
          <p:cNvSpPr txBox="1"/>
          <p:nvPr>
            <p:ph idx="2" type="body"/>
          </p:nvPr>
        </p:nvSpPr>
        <p:spPr>
          <a:xfrm>
            <a:off x="4783950" y="724200"/>
            <a:ext cx="41946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Frontend Architectural Components:</a:t>
            </a:r>
            <a:endParaRPr b="1"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RESTful Service Consumer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Frontend DTO Model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UIX Controller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UIX Components and Views</a:t>
            </a:r>
            <a:endParaRPr b="1"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/>
              <a:t>Course Coverage:</a:t>
            </a:r>
            <a:endParaRPr b="1"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Theme_4:  Course_12</a:t>
            </a:r>
            <a:endParaRPr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/>
          <p:nvPr>
            <p:ph type="title"/>
          </p:nvPr>
        </p:nvSpPr>
        <p:spPr>
          <a:xfrm>
            <a:off x="1218450" y="575950"/>
            <a:ext cx="75033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Frontend Implementation</a:t>
            </a:r>
            <a:endParaRPr/>
          </a:p>
        </p:txBody>
      </p:sp>
      <p:sp>
        <p:nvSpPr>
          <p:cNvPr id="85" name="Google Shape;85;p15"/>
          <p:cNvSpPr txBox="1"/>
          <p:nvPr>
            <p:ph idx="1" type="body"/>
          </p:nvPr>
        </p:nvSpPr>
        <p:spPr>
          <a:xfrm>
            <a:off x="1138550" y="1293175"/>
            <a:ext cx="3805200" cy="285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</a:rPr>
              <a:t>RESTful Service Consumers</a:t>
            </a:r>
            <a:endParaRPr b="1" sz="21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Frontend service/consumer to invoke REST.API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DTO Model from REST Resources on client side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86" name="Google Shape;86;p15"/>
          <p:cNvSpPr txBox="1"/>
          <p:nvPr>
            <p:ph idx="2" type="body"/>
          </p:nvPr>
        </p:nvSpPr>
        <p:spPr>
          <a:xfrm>
            <a:off x="5043625" y="1233250"/>
            <a:ext cx="39249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</a:pPr>
            <a:r>
              <a:rPr b="1" lang="en" sz="2100">
                <a:solidFill>
                  <a:schemeClr val="dk1"/>
                </a:solidFill>
              </a:rPr>
              <a:t>UIX Components</a:t>
            </a:r>
            <a:endParaRPr b="1" sz="21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Frontend Controller to manage user inter-actions and Frontend REST Service Consumer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UIX Views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UIX Visual Controls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Data Binding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Routing</a:t>
            </a:r>
            <a:endParaRPr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Deliverables</a:t>
            </a:r>
            <a:endParaRPr/>
          </a:p>
        </p:txBody>
      </p:sp>
      <p:sp>
        <p:nvSpPr>
          <p:cNvPr id="92" name="Google Shape;92;p16"/>
          <p:cNvSpPr txBox="1"/>
          <p:nvPr>
            <p:ph idx="1" type="body"/>
          </p:nvPr>
        </p:nvSpPr>
        <p:spPr>
          <a:xfrm>
            <a:off x="2400300" y="1145475"/>
            <a:ext cx="3071400" cy="341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Frontend </a:t>
            </a:r>
            <a:r>
              <a:rPr lang="en">
                <a:solidFill>
                  <a:srgbClr val="000000"/>
                </a:solidFill>
              </a:rPr>
              <a:t>Project and App</a:t>
            </a:r>
            <a:endParaRPr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>
                <a:solidFill>
                  <a:srgbClr val="000000"/>
                </a:solidFill>
              </a:rPr>
              <a:t>Web/Desktop/Mobile Presentation Application</a:t>
            </a:r>
            <a:endParaRPr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>
                <a:solidFill>
                  <a:srgbClr val="000000"/>
                </a:solidFill>
              </a:rPr>
              <a:t>b</a:t>
            </a:r>
            <a:r>
              <a:rPr lang="en">
                <a:solidFill>
                  <a:srgbClr val="000000"/>
                </a:solidFill>
              </a:rPr>
              <a:t>ased on </a:t>
            </a:r>
            <a:endParaRPr>
              <a:solidFill>
                <a:srgbClr val="000000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</a:pPr>
            <a:r>
              <a:rPr lang="en">
                <a:solidFill>
                  <a:srgbClr val="000000"/>
                </a:solidFill>
              </a:rPr>
              <a:t>JavaScript/JS-based fmks</a:t>
            </a:r>
            <a:endParaRPr>
              <a:solidFill>
                <a:srgbClr val="000000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</a:pPr>
            <a:r>
              <a:rPr lang="en">
                <a:solidFill>
                  <a:srgbClr val="000000"/>
                </a:solidFill>
              </a:rPr>
              <a:t>o</a:t>
            </a:r>
            <a:r>
              <a:rPr lang="en">
                <a:solidFill>
                  <a:srgbClr val="000000"/>
                </a:solidFill>
              </a:rPr>
              <a:t>r Java-based fmks</a:t>
            </a:r>
            <a:endParaRPr>
              <a:solidFill>
                <a:srgbClr val="000000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</a:pPr>
            <a:r>
              <a:rPr lang="en"/>
              <a:t>or </a:t>
            </a:r>
            <a:r>
              <a:rPr lang="en">
                <a:solidFill>
                  <a:srgbClr val="000000"/>
                </a:solidFill>
              </a:rPr>
              <a:t>.Net-based fmks</a:t>
            </a:r>
            <a:endParaRPr>
              <a:solidFill>
                <a:srgbClr val="000000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</a:pPr>
            <a:r>
              <a:rPr lang="en"/>
              <a:t>or </a:t>
            </a:r>
            <a:r>
              <a:rPr lang="en">
                <a:solidFill>
                  <a:srgbClr val="000000"/>
                </a:solidFill>
              </a:rPr>
              <a:t>Android fmk</a:t>
            </a:r>
            <a:endParaRPr>
              <a:solidFill>
                <a:srgbClr val="000000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</a:pPr>
            <a:r>
              <a:rPr lang="en">
                <a:solidFill>
                  <a:srgbClr val="000000"/>
                </a:solidFill>
              </a:rPr>
              <a:t>etc.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93" name="Google Shape;93;p16"/>
          <p:cNvSpPr txBox="1"/>
          <p:nvPr>
            <p:ph idx="2" type="body"/>
          </p:nvPr>
        </p:nvSpPr>
        <p:spPr>
          <a:xfrm>
            <a:off x="5650575" y="1145475"/>
            <a:ext cx="3238200" cy="341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Unit </a:t>
            </a:r>
            <a:r>
              <a:rPr lang="en">
                <a:solidFill>
                  <a:srgbClr val="000000"/>
                </a:solidFill>
              </a:rPr>
              <a:t>Tests for Frontend Application</a:t>
            </a:r>
            <a:endParaRPr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>
                <a:solidFill>
                  <a:srgbClr val="000000"/>
                </a:solidFill>
              </a:rPr>
              <a:t>e</a:t>
            </a:r>
            <a:r>
              <a:rPr lang="en">
                <a:solidFill>
                  <a:srgbClr val="000000"/>
                </a:solidFill>
              </a:rPr>
              <a:t>.g.  </a:t>
            </a:r>
            <a:r>
              <a:rPr lang="en" u="sng">
                <a:solidFill>
                  <a:schemeClr val="hlink"/>
                </a:solidFill>
                <a:hlinkClick r:id="rId3"/>
              </a:rPr>
              <a:t>Selenium</a:t>
            </a:r>
            <a:r>
              <a:rPr lang="en">
                <a:solidFill>
                  <a:srgbClr val="000000"/>
                </a:solidFill>
              </a:rPr>
              <a:t> functional testing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A9ACDF7F7C82C4F9C50369EE5836132" ma:contentTypeVersion="3" ma:contentTypeDescription="Create a new document." ma:contentTypeScope="" ma:versionID="89f952bfeee4dc86172ccd08c930ac07">
  <xsd:schema xmlns:xsd="http://www.w3.org/2001/XMLSchema" xmlns:xs="http://www.w3.org/2001/XMLSchema" xmlns:p="http://schemas.microsoft.com/office/2006/metadata/properties" xmlns:ns2="b3b42ea7-396e-4203-8b01-838fbcf2db2f" targetNamespace="http://schemas.microsoft.com/office/2006/metadata/properties" ma:root="true" ma:fieldsID="aab45768638837bf02189939ca92e894" ns2:_="">
    <xsd:import namespace="b3b42ea7-396e-4203-8b01-838fbcf2db2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b42ea7-396e-4203-8b01-838fbcf2db2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A6E04E2-E192-442F-B6E9-7CE909A63C3E}"/>
</file>

<file path=customXml/itemProps2.xml><?xml version="1.0" encoding="utf-8"?>
<ds:datastoreItem xmlns:ds="http://schemas.openxmlformats.org/officeDocument/2006/customXml" ds:itemID="{C0A7039E-3BDA-47EB-B867-EF71CE1B1F62}"/>
</file>

<file path=customXml/itemProps3.xml><?xml version="1.0" encoding="utf-8"?>
<ds:datastoreItem xmlns:ds="http://schemas.openxmlformats.org/officeDocument/2006/customXml" ds:itemID="{EBD468C7-9973-4A06-9C36-EFFD91102040}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0x0101004A9ACDF7F7C82C4F9C50369EE5836132</vt:lpwstr>
  </property>
</Properties>
</file>